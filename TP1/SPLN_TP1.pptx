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65" r:id="rId5"/>
    <p:sldId id="262" r:id="rId6"/>
    <p:sldId id="260" r:id="rId7"/>
    <p:sldId id="259" r:id="rId8"/>
    <p:sldId id="267" r:id="rId9"/>
    <p:sldId id="264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5D474-5C27-4335-8D1E-1E74EF812E90}" v="627" dt="2026-03-24T12:35:21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85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8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3/24/2026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2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4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06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32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19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27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9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69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5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6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4" TargetMode="External"/><Relationship Id="rId2" Type="http://schemas.openxmlformats.org/officeDocument/2006/relationships/hyperlink" Target="https://www.todamateria.com.br/hi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dl.handle.net/1040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r>
              <a:rPr lang="pt-PT">
                <a:ea typeface="Meiryo"/>
              </a:rPr>
              <a:t>SPLN-TP1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96369" y="4630738"/>
            <a:ext cx="5617794" cy="1150937"/>
          </a:xfrm>
        </p:spPr>
        <p:txBody>
          <a:bodyPr anchor="t">
            <a:normAutofit/>
          </a:bodyPr>
          <a:lstStyle/>
          <a:p>
            <a:r>
              <a:rPr lang="pt-PT">
                <a:ea typeface="Meiryo"/>
              </a:rPr>
              <a:t>Duarte Araújo - PG58806</a:t>
            </a:r>
            <a:endParaRPr lang="pt-PT"/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12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80EEF7D5-EB5E-892E-815E-7DC40DB96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34" r="21675" b="-9"/>
          <a:stretch>
            <a:fillRect/>
          </a:stretch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Freeform: Shape 14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78BFDC-2A4B-27CA-E1A5-B8EC43D0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r>
              <a:rPr lang="pt-PT" sz="2700">
                <a:ea typeface="Meiryo"/>
              </a:rPr>
              <a:t>Fontes selecionadas</a:t>
            </a:r>
            <a:endParaRPr lang="pt-PT" sz="27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3968600-9ACB-C0CF-BCC1-57A6B881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55577"/>
            <a:ext cx="5176298" cy="4558077"/>
          </a:xfrm>
        </p:spPr>
        <p:txBody>
          <a:bodyPr anchor="ctr">
            <a:normAutofit fontScale="92500" lnSpcReduction="20000"/>
          </a:bodyPr>
          <a:lstStyle/>
          <a:p>
            <a:pPr marL="171450" indent="-171450">
              <a:buFont typeface="Arial" panose="020B0503020204020204" pitchFamily="34" charset="0"/>
              <a:buChar char="•"/>
            </a:pPr>
            <a:r>
              <a:rPr lang="pt-PT" sz="1400" b="1">
                <a:latin typeface="sans-serif"/>
              </a:rPr>
              <a:t>Laura Aidar, História da Fotografia</a:t>
            </a:r>
            <a:r>
              <a:rPr lang="pt-PT" sz="1400">
                <a:latin typeface="sans-serif"/>
              </a:rPr>
              <a:t>:</a:t>
            </a:r>
            <a:r>
              <a:rPr lang="pt-PT" sz="1400" dirty="0">
                <a:latin typeface="sans-serif"/>
              </a:rPr>
              <a:t> </a:t>
            </a:r>
            <a:r>
              <a:rPr lang="pt-PT" sz="1400" dirty="0">
                <a:latin typeface="monospace"/>
                <a:hlinkClick r:id="rId2"/>
              </a:rPr>
              <a:t>https://www.todamateria.com.br/his</a:t>
            </a:r>
            <a:br>
              <a:rPr lang="pt-PT" sz="1400" dirty="0">
                <a:latin typeface="monospace"/>
              </a:rPr>
            </a:br>
            <a:r>
              <a:rPr lang="pt-PT" sz="1400" dirty="0">
                <a:latin typeface="monospace"/>
              </a:rPr>
              <a:t>toria-da-fotografia/</a:t>
            </a:r>
            <a:br>
              <a:rPr lang="pt-PT" sz="1400" dirty="0">
                <a:latin typeface="monospace"/>
              </a:rPr>
            </a:br>
            <a:r>
              <a:rPr lang="pt-PT" sz="1400" dirty="0">
                <a:latin typeface="monospace"/>
              </a:rPr>
              <a:t>10</a:t>
            </a:r>
            <a:endParaRPr lang="pt-PT" sz="1400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 sz="1200" b="1" dirty="0">
                <a:latin typeface="sans-serif"/>
              </a:rPr>
              <a:t>Bárbara Sexauer, A </a:t>
            </a:r>
            <a:r>
              <a:rPr lang="en-US" sz="1200" b="1" dirty="0" err="1">
                <a:latin typeface="sans-serif"/>
              </a:rPr>
              <a:t>fotografia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como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modelo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narrativo</a:t>
            </a:r>
            <a:r>
              <a:rPr lang="en-US" sz="1200" b="1" dirty="0">
                <a:latin typeface="sans-serif"/>
              </a:rPr>
              <a:t> e </a:t>
            </a:r>
            <a:r>
              <a:rPr lang="en-US" sz="1200" b="1" dirty="0" err="1">
                <a:latin typeface="sans-serif"/>
              </a:rPr>
              <a:t>suporte</a:t>
            </a:r>
            <a:r>
              <a:rPr lang="en-US" sz="1200" b="1" dirty="0">
                <a:latin typeface="sans-serif"/>
              </a:rPr>
              <a:t> de </a:t>
            </a:r>
            <a:r>
              <a:rPr lang="en-US" sz="1200" b="1" dirty="0" err="1">
                <a:latin typeface="sans-serif"/>
              </a:rPr>
              <a:t>reflexão</a:t>
            </a:r>
            <a:br>
              <a:rPr lang="en-US" sz="1200" b="1" dirty="0">
                <a:latin typeface="sans-serif"/>
              </a:rPr>
            </a:br>
            <a:r>
              <a:rPr lang="en-US" sz="1200" b="1" dirty="0" err="1">
                <a:latin typeface="sans-serif"/>
              </a:rPr>
              <a:t>teórica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em</a:t>
            </a:r>
            <a:r>
              <a:rPr lang="en-US" sz="1200" b="1" dirty="0">
                <a:latin typeface="sans-serif"/>
              </a:rPr>
              <a:t> Un monde sans rivage, de Hélène Gaudy</a:t>
            </a:r>
            <a:r>
              <a:rPr lang="en-US" sz="1200" dirty="0">
                <a:latin typeface="sans-serif"/>
              </a:rPr>
              <a:t>: </a:t>
            </a:r>
            <a:r>
              <a:rPr lang="en-US" sz="1200" dirty="0">
                <a:latin typeface="monospace"/>
                <a:hlinkClick r:id="rId3"/>
              </a:rPr>
              <a:t>https://doi.org/10.514</a:t>
            </a:r>
            <a:br>
              <a:rPr lang="en-US" sz="1200" dirty="0">
                <a:latin typeface="monospace"/>
              </a:rPr>
            </a:br>
            <a:r>
              <a:rPr lang="en-US" sz="1200" dirty="0">
                <a:latin typeface="monospace"/>
              </a:rPr>
              <a:t>27/com.jcs.2025.8.5</a:t>
            </a:r>
            <a:br>
              <a:rPr lang="en-US" sz="1200" dirty="0">
                <a:latin typeface="monospace"/>
              </a:rPr>
            </a:br>
            <a:r>
              <a:rPr lang="en-US" sz="1200" dirty="0">
                <a:latin typeface="monospace"/>
              </a:rPr>
              <a:t>19</a:t>
            </a:r>
            <a:endParaRPr lang="en-US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 sz="1200" b="1" dirty="0">
                <a:latin typeface="sans-serif"/>
              </a:rPr>
              <a:t>Beatriz Ferreira, </a:t>
            </a:r>
            <a:r>
              <a:rPr lang="en-US" sz="1200" b="1" dirty="0" err="1">
                <a:latin typeface="sans-serif"/>
              </a:rPr>
              <a:t>Olhares</a:t>
            </a:r>
            <a:r>
              <a:rPr lang="en-US" sz="1200" b="1" dirty="0">
                <a:latin typeface="sans-serif"/>
              </a:rPr>
              <a:t> do </a:t>
            </a:r>
            <a:r>
              <a:rPr lang="en-US" sz="1200" b="1" dirty="0" err="1">
                <a:latin typeface="sans-serif"/>
              </a:rPr>
              <a:t>presente</a:t>
            </a:r>
            <a:r>
              <a:rPr lang="en-US" sz="1200" b="1" dirty="0">
                <a:latin typeface="sans-serif"/>
              </a:rPr>
              <a:t>: A </a:t>
            </a:r>
            <a:r>
              <a:rPr lang="en-US" sz="1200" b="1" dirty="0" err="1">
                <a:latin typeface="sans-serif"/>
              </a:rPr>
              <a:t>Fotografia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como</a:t>
            </a:r>
            <a:r>
              <a:rPr lang="en-US" sz="1200" b="1" dirty="0">
                <a:latin typeface="sans-serif"/>
              </a:rPr>
              <a:t> </a:t>
            </a:r>
            <a:r>
              <a:rPr lang="en-US" sz="1200" b="1" dirty="0" err="1">
                <a:latin typeface="sans-serif"/>
              </a:rPr>
              <a:t>testemunho</a:t>
            </a:r>
            <a:r>
              <a:rPr lang="en-US" sz="1200" b="1" dirty="0">
                <a:latin typeface="sans-serif"/>
              </a:rPr>
              <a:t> da </a:t>
            </a:r>
            <a:r>
              <a:rPr lang="en-US" sz="1200" b="1" dirty="0" err="1">
                <a:latin typeface="sans-serif"/>
              </a:rPr>
              <a:t>pós</a:t>
            </a:r>
            <a:r>
              <a:rPr lang="en-US" sz="1200" b="1" dirty="0">
                <a:latin typeface="sans-serif"/>
              </a:rPr>
              <a:t>-</a:t>
            </a:r>
            <a:br>
              <a:rPr lang="en-US" sz="1200" b="1" dirty="0">
                <a:latin typeface="sans-serif"/>
              </a:rPr>
            </a:br>
            <a:r>
              <a:rPr lang="en-US" sz="1200" b="1" dirty="0" err="1">
                <a:latin typeface="sans-serif"/>
              </a:rPr>
              <a:t>memória</a:t>
            </a:r>
            <a:r>
              <a:rPr lang="en-US" sz="1200" b="1" dirty="0">
                <a:latin typeface="sans-serif"/>
              </a:rPr>
              <a:t> “An Ode to the Places I Never Met”</a:t>
            </a:r>
            <a:r>
              <a:rPr lang="en-US" sz="1200" dirty="0">
                <a:latin typeface="sans-serif"/>
              </a:rPr>
              <a:t>: </a:t>
            </a:r>
            <a:r>
              <a:rPr lang="en-US" sz="1200" dirty="0">
                <a:latin typeface="monospace"/>
                <a:hlinkClick r:id="rId4"/>
              </a:rPr>
              <a:t>http://hdl.handle.net/10400</a:t>
            </a:r>
            <a:br>
              <a:rPr lang="en-US" sz="1200" dirty="0">
                <a:latin typeface="monospace"/>
              </a:rPr>
            </a:br>
            <a:r>
              <a:rPr lang="en-US" sz="1200" dirty="0">
                <a:latin typeface="monospace"/>
              </a:rPr>
              <a:t>.14/53004</a:t>
            </a:r>
            <a:br>
              <a:rPr lang="en-US" sz="1200" dirty="0">
                <a:latin typeface="monospace"/>
              </a:rPr>
            </a:br>
            <a:r>
              <a:rPr lang="en-US" sz="1200" dirty="0">
                <a:latin typeface="monospace"/>
              </a:rPr>
              <a:t>38</a:t>
            </a:r>
            <a:endParaRPr lang="en-US" dirty="0">
              <a:ea typeface="Meiryo"/>
            </a:endParaRPr>
          </a:p>
          <a:p>
            <a:br>
              <a:rPr lang="en-US" dirty="0"/>
            </a:br>
            <a:endParaRPr lang="en-US" dirty="0"/>
          </a:p>
          <a:p>
            <a:endParaRPr lang="pt-PT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39749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73EAB-8FF1-6B19-BE4F-FB31F784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>
                <a:ea typeface="Meiryo"/>
              </a:rPr>
              <a:t>Pipeline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37FFE75-ED37-CE0D-DBDD-08ED4B70E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 dirty="0">
                <a:ea typeface="Meiryo"/>
              </a:rPr>
              <a:t>Web Scraping (re, requests, </a:t>
            </a:r>
            <a:r>
              <a:rPr lang="en" dirty="0" err="1">
                <a:ea typeface="+mn-lt"/>
                <a:cs typeface="+mn-lt"/>
              </a:rPr>
              <a:t>BeautifulSoup</a:t>
            </a:r>
            <a:r>
              <a:rPr lang="en" dirty="0">
                <a:ea typeface="+mn-lt"/>
                <a:cs typeface="+mn-lt"/>
              </a:rPr>
              <a:t>)</a:t>
            </a:r>
            <a:endParaRPr lang="pt-PT" dirty="0" err="1"/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Conversão de PDF's (pdftotext e pdftohtml)</a:t>
            </a:r>
            <a:endParaRPr lang="pt-PT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Tratamento dos textos (re)</a:t>
            </a:r>
            <a:endParaRPr lang="pt-PT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Análise textual + scoring com N-Grams (nltk, spacy)</a:t>
            </a:r>
            <a:endParaRPr lang="pt-PT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Formatação dos ficheiros Latex (re)</a:t>
            </a:r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5133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87B9F-4CFF-EF9D-507B-55277EB5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>
                <a:ea typeface="Meiryo"/>
              </a:rPr>
              <a:t>Tratamento do texto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051712D-7EF1-426C-6B05-AD6BEE26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pt-PT">
                <a:ea typeface="Meiryo"/>
              </a:rPr>
              <a:t>Texto para tokenizar + Texto para formar o artigo latex;</a:t>
            </a:r>
          </a:p>
          <a:p>
            <a:r>
              <a:rPr lang="pt-PT">
                <a:ea typeface="Meiryo"/>
              </a:rPr>
              <a:t>Remoção de character codes, paginação e tags inúteis;</a:t>
            </a:r>
          </a:p>
          <a:p>
            <a:r>
              <a:rPr lang="pt-PT">
                <a:ea typeface="Meiryo"/>
              </a:rPr>
              <a:t>Tagging de títulos das diferentes secções e das footnotes;</a:t>
            </a:r>
          </a:p>
          <a:p>
            <a:r>
              <a:rPr lang="pt-PT">
                <a:ea typeface="+mn-lt"/>
                <a:cs typeface="+mn-lt"/>
              </a:rPr>
              <a:t>Pag- (^\d{2}\n), ^\d{2} &lt;br/&gt;</a:t>
            </a:r>
            <a:endParaRPr lang="pt-PT" b="1">
              <a:ea typeface="+mn-lt"/>
              <a:cs typeface="+mn-lt"/>
            </a:endParaRPr>
          </a:p>
          <a:p>
            <a:r>
              <a:rPr lang="pt-PT">
                <a:ea typeface="+mn-lt"/>
                <a:cs typeface="+mn-lt"/>
              </a:rPr>
              <a:t>Notes- (^\d)\n\n([^&lt;]*), (?&lt;=\))(\d+), (?&lt;=[).])(\d+)</a:t>
            </a:r>
            <a:endParaRPr lang="pt-PT" dirty="0">
              <a:ea typeface="+mn-lt"/>
              <a:cs typeface="+mn-lt"/>
            </a:endParaRPr>
          </a:p>
          <a:p>
            <a:r>
              <a:rPr lang="pt-PT">
                <a:ea typeface="+mn-lt"/>
                <a:cs typeface="+mn-lt"/>
              </a:rPr>
              <a:t>Títulos- (^\d+\. .*), (^&lt;b&gt;\d+.[^&lt;]+&lt;/b&gt;)</a:t>
            </a:r>
            <a:endParaRPr lang="pt-PT" dirty="0">
              <a:ea typeface="+mn-lt"/>
              <a:cs typeface="+mn-lt"/>
            </a:endParaRPr>
          </a:p>
          <a:p>
            <a:r>
              <a:rPr lang="pt-PT">
                <a:ea typeface="+mn-lt"/>
                <a:cs typeface="+mn-lt"/>
              </a:rPr>
              <a:t>Separar notes das frases- )[\n\s]+([A-Z]), )([A-Z"“]) -&gt; ). $1</a:t>
            </a:r>
            <a:endParaRPr lang="pt-PT" dirty="0">
              <a:ea typeface="+mn-lt"/>
              <a:cs typeface="+mn-lt"/>
            </a:endParaRPr>
          </a:p>
          <a:p>
            <a:endParaRPr lang="pt-PT" dirty="0">
              <a:ea typeface="+mn-lt"/>
              <a:cs typeface="+mn-lt"/>
            </a:endParaRPr>
          </a:p>
          <a:p>
            <a:endParaRPr lang="pt-PT" dirty="0">
              <a:ea typeface="+mn-lt"/>
              <a:cs typeface="+mn-lt"/>
            </a:endParaRPr>
          </a:p>
          <a:p>
            <a:endParaRPr lang="pt-PT" dirty="0">
              <a:ea typeface="+mn-lt"/>
              <a:cs typeface="+mn-lt"/>
            </a:endParaRPr>
          </a:p>
          <a:p>
            <a:endParaRPr lang="pt-PT" dirty="0">
              <a:ea typeface="+mn-lt"/>
              <a:cs typeface="+mn-lt"/>
            </a:endParaRPr>
          </a:p>
          <a:p>
            <a:endParaRPr lang="pt-PT" dirty="0">
              <a:ea typeface="+mn-lt"/>
              <a:cs typeface="+mn-lt"/>
            </a:endParaRPr>
          </a:p>
          <a:p>
            <a:endParaRPr lang="pt-PT" b="1">
              <a:ea typeface="Meiryo"/>
            </a:endParaRPr>
          </a:p>
          <a:p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39302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CE3B5-0581-11F5-6B14-A91E00BE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759B7D-EBAF-68F4-3C1F-29803E5BD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92B85C-A026-3715-9C33-1D9B275F1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0392E7-C022-11BA-EDEB-5289B88F3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B894A3-BD3A-26B8-A1B1-31D9B9F9B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3473BE6-DFB5-C0CD-AE60-2E4D94A81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EE45EF5-A97C-A59F-D542-FF72409BC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6" name="Marcador de Posição de Conteúdo 5" descr="Uma imagem com texto, menu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7D19A49E-AE30-B3A1-D71A-8E0FD6F8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8210" y="412224"/>
            <a:ext cx="4477284" cy="6036463"/>
          </a:xfrm>
          <a:prstGeom prst="rect">
            <a:avLst/>
          </a:prstGeom>
        </p:spPr>
      </p:pic>
      <p:pic>
        <p:nvPicPr>
          <p:cNvPr id="7" name="Imagem 6" descr="Uma imagem com texto, captura de ecrã, Tipo de letra, número&#10;&#10;Os conteúdos gerados por IA poderão estar incorretos.">
            <a:extLst>
              <a:ext uri="{FF2B5EF4-FFF2-40B4-BE49-F238E27FC236}">
                <a16:creationId xmlns:a16="http://schemas.microsoft.com/office/drawing/2014/main" id="{BC5FA366-47EC-0E8A-D15D-20B1C0C9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303" y="407657"/>
            <a:ext cx="4073238" cy="2806660"/>
          </a:xfrm>
          <a:prstGeom prst="rect">
            <a:avLst/>
          </a:prstGeom>
        </p:spPr>
      </p:pic>
      <p:pic>
        <p:nvPicPr>
          <p:cNvPr id="9" name="Imagem 8" descr="Uma imagem com texto, captura de ecrã, menu, Tipo de letra&#10;&#10;Os conteúdos gerados por IA poderão estar incorretos.">
            <a:extLst>
              <a:ext uri="{FF2B5EF4-FFF2-40B4-BE49-F238E27FC236}">
                <a16:creationId xmlns:a16="http://schemas.microsoft.com/office/drawing/2014/main" id="{FAE96CF2-DA27-804B-D73D-0365BD170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304" y="3355335"/>
            <a:ext cx="4073237" cy="30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4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A70B2-DD8B-C5BB-F975-31FCA384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>
                <a:ea typeface="Meiryo"/>
              </a:rPr>
              <a:t>Escolha de frases</a:t>
            </a:r>
            <a:endParaRPr lang="pt-PT" dirty="0">
              <a:ea typeface="Meiryo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73F6B7-E4AD-91BA-E39D-DB4E32793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NLTK;</a:t>
            </a:r>
            <a:endParaRPr lang="pt-PT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Frequência de trigrams e perplexity;</a:t>
            </a:r>
            <a:endParaRPr lang="pt-PT" dirty="0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Treebank "floresta" para treinar modelo baseado em trigrams;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t-PT">
                <a:ea typeface="Meiryo"/>
              </a:rPr>
              <a:t>Testar o modelo com as frases tokenizadas do texto preparado para análise;</a:t>
            </a:r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  <a:p>
            <a:endParaRPr lang="pt-PT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59158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4" name="Marcador de Posição de Conteúdo 3" descr="Uma imagem com texto, captura de ecrã, Tipo de letra, documento&#10;&#10;Os conteúdos gerados por IA poderão estar incorretos.">
            <a:extLst>
              <a:ext uri="{FF2B5EF4-FFF2-40B4-BE49-F238E27FC236}">
                <a16:creationId xmlns:a16="http://schemas.microsoft.com/office/drawing/2014/main" id="{BE9C7CC7-75CC-90BE-D720-24482D9B2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392" y="1533122"/>
            <a:ext cx="5125399" cy="3806489"/>
          </a:xfrm>
          <a:prstGeom prst="rect">
            <a:avLst/>
          </a:prstGeom>
        </p:spPr>
      </p:pic>
      <p:pic>
        <p:nvPicPr>
          <p:cNvPr id="5" name="Imagem 4" descr="Uma imagem com texto, captura de ecrã, Tipo de letra, documento&#10;&#10;Os conteúdos gerados por IA poderão estar incorretos.">
            <a:extLst>
              <a:ext uri="{FF2B5EF4-FFF2-40B4-BE49-F238E27FC236}">
                <a16:creationId xmlns:a16="http://schemas.microsoft.com/office/drawing/2014/main" id="{2C89CF12-13A1-7D84-2073-AE82979E9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06" y="1479404"/>
            <a:ext cx="4771036" cy="38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4754C-03DD-8176-C5E1-AC7A2E22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8DB5C6-504E-2A88-F18C-259CB64D1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903806-4A51-A97C-2FA0-CCEC01926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2B96FD-0B8E-DDEA-1389-6B915C2F4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7659673-64E8-D3C0-979C-B2520024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F6CE49-28B5-E46B-B5FB-CE8C4E139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21BB94-DD54-D43A-2745-E725F9F0B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6" name="Marcador de Posição de Conteúdo 5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26080240-8600-4F0A-D3B6-1292E256C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711" y="441913"/>
            <a:ext cx="4289993" cy="5967192"/>
          </a:xfrm>
          <a:prstGeom prst="rect">
            <a:avLst/>
          </a:prstGeom>
        </p:spPr>
      </p:pic>
      <p:pic>
        <p:nvPicPr>
          <p:cNvPr id="7" name="Imagem 6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4814BF86-04E6-A25D-F95C-B81104A3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58" y="3312597"/>
            <a:ext cx="4877049" cy="3102677"/>
          </a:xfrm>
          <a:prstGeom prst="rect">
            <a:avLst/>
          </a:prstGeom>
        </p:spPr>
      </p:pic>
      <p:pic>
        <p:nvPicPr>
          <p:cNvPr id="9" name="Imagem 8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3DBD85A5-8BC7-4DF3-837E-D6F499C23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565" y="440933"/>
            <a:ext cx="4347235" cy="26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6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67344-1ED4-F752-66D3-F166AE56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89090BA7-1565-985E-2E58-A752AABC1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826962-7B24-AAD3-295F-373F5FF38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9941" y="3196771"/>
            <a:ext cx="5624118" cy="3284538"/>
          </a:xfrm>
        </p:spPr>
        <p:txBody>
          <a:bodyPr anchor="b">
            <a:normAutofit/>
          </a:bodyPr>
          <a:lstStyle/>
          <a:p>
            <a:r>
              <a:rPr lang="pt-PT">
                <a:ea typeface="Meiryo"/>
              </a:rPr>
              <a:t>SPLN-TP1</a:t>
            </a:r>
            <a:endParaRPr lang="pt-PT"/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C29C266C-9092-7FF7-BABA-AF8C995DD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12">
            <a:extLst>
              <a:ext uri="{FF2B5EF4-FFF2-40B4-BE49-F238E27FC236}">
                <a16:creationId xmlns:a16="http://schemas.microsoft.com/office/drawing/2014/main" id="{9C5D9681-F945-F1D9-4CB9-B778170E1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EDE75130-6A85-F68F-338F-B5F74EFFA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34" r="21675" b="-9"/>
          <a:stretch>
            <a:fillRect/>
          </a:stretch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Freeform: Shape 14">
            <a:extLst>
              <a:ext uri="{FF2B5EF4-FFF2-40B4-BE49-F238E27FC236}">
                <a16:creationId xmlns:a16="http://schemas.microsoft.com/office/drawing/2014/main" id="{5A87A58F-3CD0-7798-189B-81EAF12D2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93720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SketchLinesVTI</vt:lpstr>
      <vt:lpstr>SPLN-TP1</vt:lpstr>
      <vt:lpstr>Fontes selecionadas</vt:lpstr>
      <vt:lpstr>Pipeline</vt:lpstr>
      <vt:lpstr>Tratamento do texto</vt:lpstr>
      <vt:lpstr>Apresentação do PowerPoint</vt:lpstr>
      <vt:lpstr>Escolha de frases</vt:lpstr>
      <vt:lpstr>Apresentação do PowerPoint</vt:lpstr>
      <vt:lpstr>Apresentação do PowerPoint</vt:lpstr>
      <vt:lpstr>SPLN-TP1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220</cp:revision>
  <dcterms:created xsi:type="dcterms:W3CDTF">2026-03-24T00:26:29Z</dcterms:created>
  <dcterms:modified xsi:type="dcterms:W3CDTF">2026-03-24T12:37:54Z</dcterms:modified>
</cp:coreProperties>
</file>